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7"/>
  </p:notesMasterIdLst>
  <p:sldIdLst>
    <p:sldId id="257" r:id="rId5"/>
    <p:sldId id="258" r:id="rId6"/>
    <p:sldId id="268" r:id="rId7"/>
    <p:sldId id="259" r:id="rId8"/>
    <p:sldId id="260" r:id="rId9"/>
    <p:sldId id="264" r:id="rId10"/>
    <p:sldId id="269" r:id="rId11"/>
    <p:sldId id="270" r:id="rId12"/>
    <p:sldId id="271" r:id="rId13"/>
    <p:sldId id="266" r:id="rId14"/>
    <p:sldId id="262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B32E"/>
    <a:srgbClr val="174C7E"/>
    <a:srgbClr val="1F5F9C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83" d="100"/>
          <a:sy n="83" d="100"/>
        </p:scale>
        <p:origin x="2774" y="-1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9781C-1156-413F-B8BD-3B4AAB8E0FC6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25C7D-9A6D-43BF-A3ED-5770E8D4C0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695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My name is Geoffrey Threats, and today I’ll be presenting the Medication Supply Resilience Program for MetroCare Health System.</a:t>
            </a:r>
          </a:p>
          <a:p>
            <a:r>
              <a:rPr lang="en-US" dirty="0"/>
              <a:t>This presentation focuses on one of the most urgent operational risks facing healthcare systems today,  medication supply disruption.</a:t>
            </a:r>
          </a:p>
          <a:p>
            <a:endParaRPr lang="en-US" dirty="0"/>
          </a:p>
          <a:p>
            <a:r>
              <a:rPr lang="en-US" dirty="0"/>
              <a:t>Using a structured risk prioritization approach, operational analysis, and practical analytics integration, I will walk through these key points:</a:t>
            </a:r>
          </a:p>
          <a:p>
            <a:r>
              <a:rPr lang="en-US" b="1" dirty="0"/>
              <a:t>• Why this risk ranks highest</a:t>
            </a:r>
            <a:br>
              <a:rPr lang="en-US" b="1" dirty="0"/>
            </a:br>
            <a:r>
              <a:rPr lang="en-US" b="1" dirty="0"/>
              <a:t>• What is driving instability</a:t>
            </a:r>
            <a:br>
              <a:rPr lang="en-US" b="1" dirty="0"/>
            </a:br>
            <a:r>
              <a:rPr lang="en-US" b="1" dirty="0"/>
              <a:t>• A two-phase mitigation strategy</a:t>
            </a:r>
            <a:br>
              <a:rPr lang="en-US" b="1" dirty="0"/>
            </a:br>
            <a:r>
              <a:rPr lang="en-US" b="1" dirty="0"/>
              <a:t>• Key performance indicators</a:t>
            </a:r>
            <a:br>
              <a:rPr lang="en-US" b="1" dirty="0"/>
            </a:br>
            <a:r>
              <a:rPr lang="en-US" b="1" dirty="0"/>
              <a:t>• And most importantly,  the executive value this program creates</a:t>
            </a:r>
          </a:p>
          <a:p>
            <a:endParaRPr lang="en-US" dirty="0"/>
          </a:p>
          <a:p>
            <a:r>
              <a:rPr lang="en-US" dirty="0"/>
              <a:t>This proposal is designed to be realistic, measurable, and scalable across the enterprise</a:t>
            </a:r>
          </a:p>
          <a:p>
            <a:r>
              <a:rPr lang="en-US" dirty="0"/>
              <a:t>This is not a long-term transformation proposal. It is a disciplined, cost-conscious resilience strategy designed to reduce stockouts by up to 30% within nine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287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078432"/>
          </a:xfrm>
        </p:spPr>
        <p:txBody>
          <a:bodyPr/>
          <a:lstStyle/>
          <a:p>
            <a:r>
              <a:rPr lang="en-US" b="1" dirty="0"/>
              <a:t>Medication supply disruption </a:t>
            </a:r>
            <a:r>
              <a:rPr lang="en-US" dirty="0"/>
              <a:t>currently impacts approximately 8 to 12% of critical medications each month.</a:t>
            </a:r>
          </a:p>
          <a:p>
            <a:r>
              <a:rPr lang="en-US" dirty="0"/>
              <a:t>That translates into frequent backorders, manual workarounds, emergency procurement, and direct patient safety exposure.</a:t>
            </a:r>
          </a:p>
          <a:p>
            <a:endParaRPr lang="en-US" dirty="0"/>
          </a:p>
          <a:p>
            <a:r>
              <a:rPr lang="en-US" dirty="0"/>
              <a:t>Using a weighted risk scoring framework across four enterprise domains, operational, financial, compliance, and reputational, </a:t>
            </a:r>
            <a:r>
              <a:rPr lang="en-US" b="1" dirty="0"/>
              <a:t>Medication supply disruption </a:t>
            </a:r>
            <a:r>
              <a:rPr lang="en-US" dirty="0"/>
              <a:t>scored a 4.9 out of 5, the highest of all identified risk categories.</a:t>
            </a:r>
          </a:p>
          <a:p>
            <a:endParaRPr lang="en-US" dirty="0"/>
          </a:p>
          <a:p>
            <a:r>
              <a:rPr lang="en-US" dirty="0"/>
              <a:t>Operationally, we see:</a:t>
            </a:r>
            <a:br>
              <a:rPr lang="en-US" dirty="0"/>
            </a:br>
            <a:r>
              <a:rPr lang="en-US" b="1" dirty="0"/>
              <a:t>• Procedure delays</a:t>
            </a:r>
            <a:br>
              <a:rPr lang="en-US" b="1" dirty="0"/>
            </a:br>
            <a:r>
              <a:rPr lang="en-US" b="1" dirty="0"/>
              <a:t>• Clinical substitutions</a:t>
            </a:r>
            <a:br>
              <a:rPr lang="en-US" b="1" dirty="0"/>
            </a:br>
            <a:r>
              <a:rPr lang="en-US" b="1" dirty="0"/>
              <a:t>• Increased staff workload</a:t>
            </a:r>
            <a:br>
              <a:rPr lang="en-US" b="1" dirty="0"/>
            </a:br>
            <a:r>
              <a:rPr lang="en-US" b="1" dirty="0"/>
              <a:t>• Workflow instability</a:t>
            </a:r>
          </a:p>
          <a:p>
            <a:r>
              <a:rPr lang="en-US" dirty="0"/>
              <a:t>Financially:</a:t>
            </a:r>
            <a:br>
              <a:rPr lang="en-US" dirty="0"/>
            </a:br>
            <a:r>
              <a:rPr lang="en-US" b="1" dirty="0"/>
              <a:t>• Premium freight costs</a:t>
            </a:r>
            <a:br>
              <a:rPr lang="en-US" b="1" dirty="0"/>
            </a:br>
            <a:r>
              <a:rPr lang="en-US" b="1" dirty="0"/>
              <a:t>• Budget variance</a:t>
            </a:r>
            <a:br>
              <a:rPr lang="en-US" b="1" dirty="0"/>
            </a:br>
            <a:r>
              <a:rPr lang="en-US" b="1" dirty="0"/>
              <a:t>• Margin instability</a:t>
            </a:r>
          </a:p>
          <a:p>
            <a:r>
              <a:rPr lang="en-US" dirty="0"/>
              <a:t>From a leadership standpoint, </a:t>
            </a:r>
            <a:r>
              <a:rPr lang="en-US" b="1" dirty="0"/>
              <a:t>Medication supply disruption</a:t>
            </a:r>
            <a:r>
              <a:rPr lang="en-US" dirty="0"/>
              <a:t> is not just a pharmacy issue, it is a system-wide operational risk with downstream financial and safety implications.</a:t>
            </a:r>
          </a:p>
          <a:p>
            <a:r>
              <a:rPr lang="en-US" dirty="0"/>
              <a:t>That is why this risk was prioritized above all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7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ensure this was not a subjective choice, a weighted risk scoring model was applied across four enterprise risks. Each risk was evaluated across patient safety impact, financial impact, likelihood, operational dependency, and regulatory exposure. </a:t>
            </a:r>
          </a:p>
          <a:p>
            <a:r>
              <a:rPr lang="en-US" b="1" dirty="0"/>
              <a:t>Medication supply disruption </a:t>
            </a:r>
            <a:r>
              <a:rPr lang="en-US" dirty="0"/>
              <a:t>received the highest weighted score at 4.9 out of 5, primarily due to its daily occurrence and system-wide operational dependency. While cyber risk carries severe potential consequences, its likelihood is episodic. </a:t>
            </a:r>
          </a:p>
          <a:p>
            <a:r>
              <a:rPr lang="en-US" dirty="0"/>
              <a:t>Medication instability is a persistent and already compounding operational strain.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8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9249-1346-F67E-2EE2-885D0739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BEBFE-9E28-8329-0862-C4E950933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FEC12-B061-CF80-C802-964BAB972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Medication supply disruption</a:t>
            </a:r>
            <a:r>
              <a:rPr lang="en-US" dirty="0"/>
              <a:t> is not simply a pharmacy issue. It affects surgery scheduling, clinical workflows, revenue predictability, and executive visibility. The instability creates cascading operational strain across the enterprise.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0EC47-29E1-CF9B-2ABE-B92D843B5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29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CAA6-2F02-49EB-8062-5E97DFFBF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F0509-EB68-BD9D-D716-CEDAB06C5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C119C-9C3A-BE4E-D78B-E1AD0F1C1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examine the drivers of instability, the issue is not randomness, it is controllable structural gaps.</a:t>
            </a:r>
          </a:p>
          <a:p>
            <a:r>
              <a:rPr lang="en-US" dirty="0"/>
              <a:t>Four primary root causes were identified: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First, limited inventory visibility across sites.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Second, weak demand forecasting discipline.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Third, vendor concentration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Fourth, inconsistent data definitions across systems.</a:t>
            </a:r>
          </a:p>
          <a:p>
            <a:r>
              <a:rPr lang="en-US" dirty="0"/>
              <a:t>From my supply chain background, these issues are common when organizations grow faster than their analytics governance structure.</a:t>
            </a:r>
          </a:p>
          <a:p>
            <a:r>
              <a:rPr lang="en-US" dirty="0"/>
              <a:t>When inventory data lacks standardization and forecasting lacks oversight, variability increases.</a:t>
            </a:r>
          </a:p>
          <a:p>
            <a:r>
              <a:rPr lang="en-US" dirty="0"/>
              <a:t>This program addresses those structural weaknesses directly, not just the symptoms.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D3B4B-E208-7E41-352B-7A7210E79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086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0E810-8E60-D96A-578D-9A66DC8B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979FA-1886-5E4F-9501-EC5A179C5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F92AA-0B14-50DE-4CF2-4E1BB1C50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strategy is intentionally sequenced.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First, we stabilize visibility and governance.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Then, we optimize forecasting and vendor discipline. </a:t>
            </a:r>
          </a:p>
          <a:p>
            <a:endParaRPr lang="en-US" dirty="0"/>
          </a:p>
          <a:p>
            <a:r>
              <a:rPr lang="en-US" dirty="0"/>
              <a:t>No major ERP replacement. No large capital investment. The mitigation plan is structured into two deliberate phases.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Phase 1 focuses on stabilization and visibility within the first 90 days.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Phase 2 focuses on forecasting maturity and proactive shortage prevention across 3 to 12 months.</a:t>
            </a:r>
          </a:p>
          <a:p>
            <a:endParaRPr lang="en-US" b="1" dirty="0"/>
          </a:p>
          <a:p>
            <a:r>
              <a:rPr lang="en-US" dirty="0"/>
              <a:t>This sequencing is intentional.</a:t>
            </a:r>
          </a:p>
          <a:p>
            <a:r>
              <a:rPr lang="en-US" dirty="0"/>
              <a:t>Before we optimize forecasting, we must first stabilize data definitions, reporting structure, and threshold controls.</a:t>
            </a:r>
          </a:p>
          <a:p>
            <a:r>
              <a:rPr lang="en-US" dirty="0"/>
              <a:t>This approach ensures quick wins while building sustainable analytics capability.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CFE5D-7E9D-8D5F-ECBA-03DC4370D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277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key component of this program is clear accountability.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Each KPI has a designated primary owner and defined review cadence.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Inventory metrics are reviewed weekly by pharmacy leadership.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Forecast variance is reviewed monthly by supply chain analytics.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Emergency procurement costs are reviewed jointly with finance.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Vendor performance is reviewed quarterly. </a:t>
            </a:r>
          </a:p>
          <a:p>
            <a:r>
              <a:rPr lang="en-US" dirty="0"/>
              <a:t>This governance structure ensures metrics drive action rather than passive reporting.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98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90 days, MetroCare will have standardized medication classifications, weekly consolidated reporting, threshold-based monitoring, and executive-level visibility into shortage trends and emergency procurement costs. </a:t>
            </a:r>
          </a:p>
          <a:p>
            <a:endParaRPr lang="en-US" dirty="0"/>
          </a:p>
          <a:p>
            <a:r>
              <a:rPr lang="en-US" dirty="0"/>
              <a:t>Phase 1 includes five immediate actions:</a:t>
            </a:r>
          </a:p>
          <a:p>
            <a:r>
              <a:rPr lang="en-US" b="1" dirty="0"/>
              <a:t>• Tier 1 medication classification</a:t>
            </a:r>
            <a:br>
              <a:rPr lang="en-US" b="1" dirty="0"/>
            </a:br>
            <a:r>
              <a:rPr lang="en-US" b="1" dirty="0"/>
              <a:t>• Weekly consolidated inventory dashboard</a:t>
            </a:r>
            <a:br>
              <a:rPr lang="en-US" b="1" dirty="0"/>
            </a:br>
            <a:r>
              <a:rPr lang="en-US" b="1" dirty="0"/>
              <a:t>• Centralized shortage log</a:t>
            </a:r>
            <a:br>
              <a:rPr lang="en-US" b="1" dirty="0"/>
            </a:br>
            <a:r>
              <a:rPr lang="en-US" b="1" dirty="0"/>
              <a:t>• Defined reorder thresholds</a:t>
            </a:r>
            <a:br>
              <a:rPr lang="en-US" b="1" dirty="0"/>
            </a:br>
            <a:r>
              <a:rPr lang="en-US" b="1" dirty="0"/>
              <a:t>• Executive visibility reporting</a:t>
            </a:r>
          </a:p>
          <a:p>
            <a:r>
              <a:rPr lang="en-US" dirty="0"/>
              <a:t>This phase focuses on operational discipline and transparency.</a:t>
            </a:r>
          </a:p>
          <a:p>
            <a:r>
              <a:rPr lang="en-US" dirty="0"/>
              <a:t>It is low complexity, high impact. The goal in the first 90 days is clarity and control.</a:t>
            </a:r>
          </a:p>
          <a:p>
            <a:r>
              <a:rPr lang="en-US" dirty="0"/>
              <a:t>By classifying critical medications and standardizing reporting across facilities, leadership gains immediate insight into risk exposure.</a:t>
            </a:r>
          </a:p>
          <a:p>
            <a:r>
              <a:rPr lang="en-US" dirty="0"/>
              <a:t>The weekly dashboard provides early warning signals.</a:t>
            </a:r>
          </a:p>
          <a:p>
            <a:r>
              <a:rPr lang="en-US" dirty="0"/>
              <a:t>Defined reorder thresholds reduce reactive procurement.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43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stability is achieved, Phase 2 introduces predictive governance.</a:t>
            </a:r>
          </a:p>
          <a:p>
            <a:r>
              <a:rPr lang="en-US" dirty="0"/>
              <a:t>The objective here is prevention rather than reaction.</a:t>
            </a:r>
          </a:p>
          <a:p>
            <a:r>
              <a:rPr lang="en-US" dirty="0"/>
              <a:t>By tightening forecast variance and monitoring vendor fill rates, the system moves from reactive firefighting to controlled planning.</a:t>
            </a:r>
          </a:p>
          <a:p>
            <a:endParaRPr lang="en-US" dirty="0"/>
          </a:p>
          <a:p>
            <a:r>
              <a:rPr lang="en-US" dirty="0"/>
              <a:t>Key components include:</a:t>
            </a:r>
          </a:p>
          <a:p>
            <a:r>
              <a:rPr lang="en-US" b="1" dirty="0"/>
              <a:t>• 12–18 month usage trend analysis</a:t>
            </a:r>
            <a:br>
              <a:rPr lang="en-US" b="1" dirty="0"/>
            </a:br>
            <a:r>
              <a:rPr lang="en-US" b="1" dirty="0"/>
              <a:t>• Reorder point recalibration</a:t>
            </a:r>
            <a:br>
              <a:rPr lang="en-US" b="1" dirty="0"/>
            </a:br>
            <a:r>
              <a:rPr lang="en-US" b="1" dirty="0"/>
              <a:t>• Automated shortage alerts</a:t>
            </a:r>
            <a:br>
              <a:rPr lang="en-US" b="1" dirty="0"/>
            </a:br>
            <a:r>
              <a:rPr lang="en-US" b="1" dirty="0"/>
              <a:t>• Monthly forecast governance reviews</a:t>
            </a:r>
            <a:br>
              <a:rPr lang="en-US" b="1" dirty="0"/>
            </a:br>
            <a:r>
              <a:rPr lang="en-US" b="1" dirty="0"/>
              <a:t>• Vendor performance monitoring</a:t>
            </a:r>
          </a:p>
          <a:p>
            <a:endParaRPr lang="en-US" dirty="0"/>
          </a:p>
          <a:p>
            <a:r>
              <a:rPr lang="en-US" dirty="0"/>
              <a:t>This phase builds long-term resilience.</a:t>
            </a:r>
          </a:p>
          <a:p>
            <a:r>
              <a:rPr lang="en-US" dirty="0"/>
              <a:t>It also advances MetroCare’s analytics maturity.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92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0887-6D43-670D-517A-D34E56C8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7CACB-BF22-EFC1-8B61-0B76A6D95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F10E9-9308-77D8-CA82-C0FEA4EF6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is measured in measurable, executive-relevant outcomes. This program defines KPIs across three categories:</a:t>
            </a:r>
          </a:p>
          <a:p>
            <a:endParaRPr lang="en-US" dirty="0"/>
          </a:p>
          <a:p>
            <a:r>
              <a:rPr lang="en-US" sz="1600" dirty="0"/>
              <a:t>Financial:</a:t>
            </a:r>
            <a:br>
              <a:rPr lang="en-US" dirty="0"/>
            </a:br>
            <a:r>
              <a:rPr lang="en-US" b="1" dirty="0"/>
              <a:t>• 15 to 25 percent reduction in emergency procurement cost</a:t>
            </a:r>
            <a:br>
              <a:rPr lang="en-US" b="1" dirty="0"/>
            </a:br>
            <a:r>
              <a:rPr lang="en-US" b="1" dirty="0"/>
              <a:t>• Reduced drug acquisition cost variance</a:t>
            </a:r>
          </a:p>
          <a:p>
            <a:r>
              <a:rPr lang="en-US" sz="1600" dirty="0"/>
              <a:t>Operational:</a:t>
            </a:r>
            <a:br>
              <a:rPr lang="en-US" dirty="0"/>
            </a:br>
            <a:r>
              <a:rPr lang="en-US" b="1" dirty="0"/>
              <a:t>• 20 to 30 percent reduction in stockout rate</a:t>
            </a:r>
            <a:br>
              <a:rPr lang="en-US" b="1" dirty="0"/>
            </a:br>
            <a:r>
              <a:rPr lang="en-US" b="1" dirty="0"/>
              <a:t>• Forecast variance under 10 percent</a:t>
            </a:r>
          </a:p>
          <a:p>
            <a:r>
              <a:rPr lang="en-US" sz="1600" dirty="0"/>
              <a:t>Risk &amp; Reliability:</a:t>
            </a:r>
            <a:br>
              <a:rPr lang="en-US" dirty="0"/>
            </a:br>
            <a:r>
              <a:rPr lang="en-US" b="1" dirty="0"/>
              <a:t>• Vendor fill rate of at least 95 percent</a:t>
            </a:r>
            <a:br>
              <a:rPr lang="en-US" b="1" dirty="0"/>
            </a:br>
            <a:r>
              <a:rPr lang="en-US" b="1" dirty="0"/>
              <a:t>• 15 percent reduction in clinical substitution rate</a:t>
            </a:r>
          </a:p>
          <a:p>
            <a:endParaRPr lang="en-US" b="1" dirty="0"/>
          </a:p>
          <a:p>
            <a:r>
              <a:rPr lang="en-US" dirty="0"/>
              <a:t>These metrics connect directly to margin protection, operational continuity, and patient safety.</a:t>
            </a:r>
          </a:p>
          <a:p>
            <a:r>
              <a:rPr lang="en-US" dirty="0"/>
              <a:t>They also allow executive tracking at the board level.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04B47-F516-77E3-9FBB-BEED353CB6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092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D0CDB-BDC4-22BB-1F69-F4C6C4C4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CF460-C065-0105-E83F-4CF3DE0FA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66386-0FFF-2233-E34B-AD75573B2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is structured, not theoretical. Deliverables are visible within 90 days, with measurable optimization within 12 months. Governance meetings ensure accountability without additional headcount. </a:t>
            </a:r>
          </a:p>
          <a:p>
            <a:endParaRPr lang="en-US" dirty="0"/>
          </a:p>
          <a:p>
            <a:r>
              <a:rPr lang="en-US" dirty="0"/>
              <a:t>The roadmap clearly separates short-term stabilization from longer-term optimization.</a:t>
            </a:r>
          </a:p>
          <a:p>
            <a:endParaRPr lang="en-US" dirty="0"/>
          </a:p>
          <a:p>
            <a:r>
              <a:rPr lang="en-US" dirty="0"/>
              <a:t>Within 90 days:</a:t>
            </a:r>
            <a:br>
              <a:rPr lang="en-US" dirty="0"/>
            </a:br>
            <a:r>
              <a:rPr lang="en-US" b="1" dirty="0"/>
              <a:t>• Dashboard goes live</a:t>
            </a:r>
            <a:br>
              <a:rPr lang="en-US" b="1" dirty="0"/>
            </a:br>
            <a:r>
              <a:rPr lang="en-US" b="1" dirty="0"/>
              <a:t>• Threshold alerts become active</a:t>
            </a:r>
            <a:br>
              <a:rPr lang="en-US" b="1" dirty="0"/>
            </a:br>
            <a:r>
              <a:rPr lang="en-US" b="1" dirty="0"/>
              <a:t>• First executive performance report delivered</a:t>
            </a:r>
          </a:p>
          <a:p>
            <a:endParaRPr lang="en-US" dirty="0"/>
          </a:p>
          <a:p>
            <a:r>
              <a:rPr lang="en-US" dirty="0"/>
              <a:t>By 12 months:</a:t>
            </a:r>
            <a:br>
              <a:rPr lang="en-US" dirty="0"/>
            </a:br>
            <a:r>
              <a:rPr lang="en-US" b="1" dirty="0"/>
              <a:t>• Forecast variance reduced</a:t>
            </a:r>
            <a:br>
              <a:rPr lang="en-US" b="1" dirty="0"/>
            </a:br>
            <a:r>
              <a:rPr lang="en-US" b="1" dirty="0"/>
              <a:t>• Vendor performance stabilized</a:t>
            </a:r>
            <a:br>
              <a:rPr lang="en-US" b="1" dirty="0"/>
            </a:br>
            <a:r>
              <a:rPr lang="en-US" b="1" dirty="0"/>
              <a:t>• Stockout trends declining</a:t>
            </a:r>
          </a:p>
          <a:p>
            <a:endParaRPr lang="en-US" dirty="0"/>
          </a:p>
          <a:p>
            <a:r>
              <a:rPr lang="en-US" dirty="0"/>
              <a:t>This phased implementation minimizes disruption while building measurable progress.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96FBF-C020-8991-F98F-B8DC02310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689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6ACB-1EC2-E41A-0D76-BD2C9032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9E324-5E42-0560-94DD-00DEDE9F9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7CA1D-254C-247A-D2E1-12DE6642C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836" y="4229099"/>
            <a:ext cx="6650182" cy="4914901"/>
          </a:xfrm>
        </p:spPr>
        <p:txBody>
          <a:bodyPr/>
          <a:lstStyle/>
          <a:p>
            <a:r>
              <a:rPr lang="en-US" dirty="0"/>
              <a:t>From a leadership perspective, the value created is substantial.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First, enterprise-wide supply visibility enhances strategic decision-making.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Second, patient safety exposure decreases due to reduced stockouts and substitutions.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Third, workflow disruption declines as manual workarounds decrease.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Fourth, margin predictability improves through cost stabilization.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And </a:t>
            </a:r>
            <a:r>
              <a:rPr lang="en-US" b="1" dirty="0"/>
              <a:t>finally, scalable analytics maturity positions MetroCare for future operational improvements beyond pharmacy.</a:t>
            </a:r>
          </a:p>
          <a:p>
            <a:r>
              <a:rPr lang="en-US" dirty="0"/>
              <a:t>This program transforms medication supply from a reactive vulnerability into a managed strategic asset. The example dashboard demonstrates how leadership would monitor performance in real time.</a:t>
            </a:r>
          </a:p>
          <a:p>
            <a:r>
              <a:rPr lang="en-US" dirty="0"/>
              <a:t>It includes:</a:t>
            </a:r>
          </a:p>
          <a:p>
            <a:r>
              <a:rPr lang="en-US" b="1" dirty="0"/>
              <a:t>• Cycle time trends</a:t>
            </a:r>
            <a:br>
              <a:rPr lang="en-US" b="1" dirty="0"/>
            </a:br>
            <a:r>
              <a:rPr lang="en-US" b="1" dirty="0"/>
              <a:t>• Perfect order rate</a:t>
            </a:r>
            <a:br>
              <a:rPr lang="en-US" b="1" dirty="0"/>
            </a:br>
            <a:r>
              <a:rPr lang="en-US" b="1" dirty="0"/>
              <a:t>• Stockout rate</a:t>
            </a:r>
            <a:br>
              <a:rPr lang="en-US" b="1" dirty="0"/>
            </a:br>
            <a:r>
              <a:rPr lang="en-US" b="1" dirty="0"/>
              <a:t>• Warehouse utilization against target</a:t>
            </a:r>
          </a:p>
          <a:p>
            <a:r>
              <a:rPr lang="en-US" dirty="0"/>
              <a:t>This provides a consolidated operational view.</a:t>
            </a:r>
          </a:p>
          <a:p>
            <a:r>
              <a:rPr lang="en-US" dirty="0"/>
              <a:t>Rather than reacting to isolated complaints, executives can monitor performance trends monthly and intervene proactively.</a:t>
            </a:r>
          </a:p>
          <a:p>
            <a:r>
              <a:rPr lang="en-US" dirty="0"/>
              <a:t>This level of visibility reduces uncertainty and supports data-driven leadership decisions. </a:t>
            </a:r>
          </a:p>
          <a:p>
            <a:endParaRPr lang="en-US" dirty="0"/>
          </a:p>
          <a:p>
            <a:r>
              <a:rPr lang="en-US" b="1" dirty="0"/>
              <a:t>In conclusion, medication supply disruption represents MetroCare’s highest operational risk.</a:t>
            </a:r>
          </a:p>
          <a:p>
            <a:r>
              <a:rPr lang="en-US" b="1" dirty="0"/>
              <a:t>However, with structured prioritization, disciplined execution, and practical analytics integration, this risk can be mitigated effectively.</a:t>
            </a:r>
          </a:p>
          <a:p>
            <a:r>
              <a:rPr lang="en-US" b="1" dirty="0"/>
              <a:t>This Medication Supply Resilience Program provides a clear, phased, and measurable path forward.</a:t>
            </a:r>
          </a:p>
          <a:p>
            <a:r>
              <a:rPr lang="en-US" b="1" dirty="0"/>
              <a:t>Thank you for your time. I look forward to any questions.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4167B-84A4-94C9-6462-82B084B7D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25C7D-9A6D-43BF-A3ED-5770E8D4C03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133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1F5F9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Medication Supply Resilience Program</a:t>
            </a:r>
            <a:br>
              <a:rPr lang="en-US" sz="4400" dirty="0"/>
            </a:br>
            <a:r>
              <a:rPr lang="en-US" sz="4400" dirty="0">
                <a:solidFill>
                  <a:srgbClr val="66B3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MetroCare Health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4" y="4709832"/>
            <a:ext cx="6269347" cy="1021498"/>
          </a:xfrm>
        </p:spPr>
        <p:txBody>
          <a:bodyPr>
            <a:noAutofit/>
          </a:bodyPr>
          <a:lstStyle/>
          <a:p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Geoffrey Threats, MBA – ERP, MS - MIS</a:t>
            </a:r>
          </a:p>
          <a:p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ADTA 5830 – Risk &amp; Value</a:t>
            </a:r>
          </a:p>
          <a:p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SPRING I - 2026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368601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9E05982-D765-4D4F-374E-CFEA2B9798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" y="3686016"/>
            <a:ext cx="4635315" cy="3197882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A94962CD-C69D-B5E3-D145-F8F0CD1FD7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028"/>
    </mc:Choice>
    <mc:Fallback>
      <p:transition spd="slow" advTm="320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0A077DF1-2392-0E7F-9AFF-D165E8AED1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7008" y="2181041"/>
            <a:ext cx="758656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8–12% of critical medications impacted monthly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backorders &amp; manual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procurement cost volatility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patient safety exposure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Weighted Risk Score: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4.9 / 5 (Highest of 4 domains)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CC713BF-C644-EF38-ADD1-6702A9840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9" y="528676"/>
            <a:ext cx="10058400" cy="838109"/>
          </a:xfrm>
        </p:spPr>
        <p:txBody>
          <a:bodyPr/>
          <a:lstStyle/>
          <a:p>
            <a:pPr algn="ctr"/>
            <a:r>
              <a:rPr lang="en-US" dirty="0"/>
              <a:t>Risk &amp; Urgency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3498C3-B51E-430A-C915-10FCA46D0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79590" cy="18681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9E9DB7-6C34-C0B0-6FA4-AD0B9BA68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3572" y="13667"/>
            <a:ext cx="3379590" cy="18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59E3-FDB5-6FCD-002D-F6BCBEB63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416" y="277511"/>
            <a:ext cx="10058400" cy="1450757"/>
          </a:xfrm>
        </p:spPr>
        <p:txBody>
          <a:bodyPr/>
          <a:lstStyle/>
          <a:p>
            <a:r>
              <a:rPr lang="en-US" dirty="0"/>
              <a:t>Risk Prioritization Framework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D8CEF9-E64E-93B3-9494-7E6D4FD60C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715453"/>
              </p:ext>
            </p:extLst>
          </p:nvPr>
        </p:nvGraphicFramePr>
        <p:xfrm>
          <a:off x="1156874" y="2137664"/>
          <a:ext cx="9939211" cy="3967480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1892491">
                  <a:extLst>
                    <a:ext uri="{9D8B030D-6E8A-4147-A177-3AD203B41FA5}">
                      <a16:colId xmlns:a16="http://schemas.microsoft.com/office/drawing/2014/main" val="3186078643"/>
                    </a:ext>
                  </a:extLst>
                </a:gridCol>
                <a:gridCol w="1993709">
                  <a:extLst>
                    <a:ext uri="{9D8B030D-6E8A-4147-A177-3AD203B41FA5}">
                      <a16:colId xmlns:a16="http://schemas.microsoft.com/office/drawing/2014/main" val="2562242156"/>
                    </a:ext>
                  </a:extLst>
                </a:gridCol>
                <a:gridCol w="2029651">
                  <a:extLst>
                    <a:ext uri="{9D8B030D-6E8A-4147-A177-3AD203B41FA5}">
                      <a16:colId xmlns:a16="http://schemas.microsoft.com/office/drawing/2014/main" val="390005671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56674558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290189331"/>
                    </a:ext>
                  </a:extLst>
                </a:gridCol>
              </a:tblGrid>
              <a:tr h="257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Medication Supply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Cyber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Workforce Shortage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011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Patient Safety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40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Financial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248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Likelihood (Current State)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783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Operational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673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Regulatory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671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Weighted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4.9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0254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A67C664-627F-4E0F-0EB0-FF342E3F6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65445" cy="1002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BD1943-C9E1-4449-41E2-AB756304C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329" y="0"/>
            <a:ext cx="3665445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DA3F2-2011-06F5-0C34-C59274D7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96E9AFA-1008-B8FD-9F65-78DEC114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204" y="208685"/>
            <a:ext cx="10058400" cy="1450757"/>
          </a:xfrm>
        </p:spPr>
        <p:txBody>
          <a:bodyPr/>
          <a:lstStyle/>
          <a:p>
            <a:pPr algn="ctr"/>
            <a:r>
              <a:rPr lang="en-US" dirty="0"/>
              <a:t>Enterprise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835BB-22A8-D462-7D9D-D84AF8C2F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2EEC6-1CFE-C493-3B62-8895FBDBB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Financial &amp; Risk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256EC65-A20E-CA7F-F58F-E605C2E1760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97204" y="3035120"/>
            <a:ext cx="318626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Procedure delays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 substitutions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staff workload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disruption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09B1283-926F-DD97-BD7F-39D099185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4986" y="3035120"/>
            <a:ext cx="25731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Premium freight costs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Budget variance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Margin instability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Reputational exposure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868F75-57A4-08A2-076C-87598FDBD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79590" cy="1868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642AC1-A06F-28C9-3804-C478611D4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812" y="0"/>
            <a:ext cx="3379590" cy="18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1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701B5-8193-3773-AC42-DE3F6A6B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BF86626-CFEB-2A55-6500-EFFF31A10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Root Causes (Controllable)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111CD-E956-3E3C-F111-B861AD1EC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What’s Driving the Instability?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1408AA4-BC17-5DB9-C3B8-2889DBFA7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4986" y="3035120"/>
            <a:ext cx="43575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Limited inventory visibility across sites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Weak demand forecasting discipline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Vendor concentration risk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Inconsistent data definitions</a:t>
            </a:r>
          </a:p>
        </p:txBody>
      </p:sp>
      <p:pic>
        <p:nvPicPr>
          <p:cNvPr id="7" name="Picture 6" descr="People wearing masks in a car">
            <a:extLst>
              <a:ext uri="{FF2B5EF4-FFF2-40B4-BE49-F238E27FC236}">
                <a16:creationId xmlns:a16="http://schemas.microsoft.com/office/drawing/2014/main" id="{897135E4-129A-236E-6CFA-BA871FD4D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56" y="2313432"/>
            <a:ext cx="4869180" cy="32461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4896DC-522F-7A28-CCC0-C874AA291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812" y="4476887"/>
            <a:ext cx="3379590" cy="18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44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95776-64FE-1501-7A8A-3361AAF0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91E7E73-16A0-5A87-2467-9F3C09C6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Strategy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5A629-5538-42CA-1D6D-BE5D61D3E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Two-Phase Medication Supply Resilience Program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3176CEF-02ED-A3D1-39CC-A20119DC92B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79500" y="2967095"/>
            <a:ext cx="318626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1 (0–90 Days)Inventory Visibility &amp; Standardization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2 (3–12 Months)Forecasting &amp; Shortage Alert Framework</a:t>
            </a:r>
          </a:p>
        </p:txBody>
      </p:sp>
      <p:pic>
        <p:nvPicPr>
          <p:cNvPr id="5" name="Picture 4" descr="Two colleagues planning on board with sticky notes">
            <a:extLst>
              <a:ext uri="{FF2B5EF4-FFF2-40B4-BE49-F238E27FC236}">
                <a16:creationId xmlns:a16="http://schemas.microsoft.com/office/drawing/2014/main" id="{6F0506E8-247C-BADB-6B2C-1E342C4EF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616" y="2559542"/>
            <a:ext cx="3510749" cy="23416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FDF81B-230C-E1A6-C2E1-12BDFAA28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379590" cy="18681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6034E1-0BA2-35B7-2ACD-655A6A178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5961" y="-1"/>
            <a:ext cx="3379590" cy="18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2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2D41-7E2F-91AB-CEBF-2C9EF8B7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422" y="277511"/>
            <a:ext cx="10058400" cy="1450757"/>
          </a:xfrm>
        </p:spPr>
        <p:txBody>
          <a:bodyPr/>
          <a:lstStyle/>
          <a:p>
            <a:r>
              <a:rPr lang="en-US" dirty="0"/>
              <a:t>Data Governance &amp; Ownership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656A0D-4487-0AA2-CE08-19B0E29F6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33548"/>
              </p:ext>
            </p:extLst>
          </p:nvPr>
        </p:nvGraphicFramePr>
        <p:xfrm>
          <a:off x="1748536" y="2237570"/>
          <a:ext cx="81280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232090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900493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94993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72709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Supporting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Review Cadence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18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Inventory Levels &amp; Stockouts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Pharmacy Leadership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Supply Chain 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Weekly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169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Forecast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Supply Chain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Pharmacy 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Monthly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347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Emergency Procurement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Supply Chain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Monthly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096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Vendor Fill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Procurement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Quarterly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600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Substitution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Pharmacy Clinical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CMO Office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Monthly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1233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7BDFB24-C606-E4E8-FEC6-5DED5C724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65445" cy="10028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2E01BF-5F62-CFF0-3B17-9958E1F86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557" y="0"/>
            <a:ext cx="3665445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3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EA1F1-C886-647D-0D00-DEE6B4B2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135"/>
            <a:ext cx="10058400" cy="1450757"/>
          </a:xfrm>
        </p:spPr>
        <p:txBody>
          <a:bodyPr/>
          <a:lstStyle/>
          <a:p>
            <a:r>
              <a:rPr lang="en-US" sz="4000" dirty="0"/>
              <a:t>Phase 1: Stabilize </a:t>
            </a:r>
            <a:r>
              <a:rPr lang="en-US" sz="3200" dirty="0"/>
              <a:t>(0–90 Days)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442D1-ABE5-A18E-F19F-091858988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2096728"/>
            <a:ext cx="4639736" cy="736282"/>
          </a:xfrm>
        </p:spPr>
        <p:txBody>
          <a:bodyPr/>
          <a:lstStyle/>
          <a:p>
            <a:r>
              <a:rPr lang="en-US" b="1" dirty="0"/>
              <a:t>Immediate Actions</a:t>
            </a:r>
            <a:endParaRPr lang="en-US" dirty="0"/>
          </a:p>
          <a:p>
            <a:endParaRPr lang="en-US" dirty="0"/>
          </a:p>
        </p:txBody>
      </p:sp>
      <p:pic>
        <p:nvPicPr>
          <p:cNvPr id="9" name="Content Placeholder 8" descr="Doctor using digital tablet in a hospital corridor">
            <a:extLst>
              <a:ext uri="{FF2B5EF4-FFF2-40B4-BE49-F238E27FC236}">
                <a16:creationId xmlns:a16="http://schemas.microsoft.com/office/drawing/2014/main" id="{DFDB7242-2559-1E8F-644E-67D93EA321F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102" y="2309813"/>
            <a:ext cx="4365896" cy="2909887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FBE8017-B4CF-F5E1-FF1E-95A8E68A459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97280" y="2309813"/>
            <a:ext cx="4639736" cy="291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Tier 1 medication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Weekly consolidated inventory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shortage 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Reorder threshold definitions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Executive visibility reporting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92344-12FE-E097-F1A6-355FC150B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30069"/>
            <a:ext cx="3665445" cy="135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8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 descr="Businessman using digital tablet in meeting">
            <a:extLst>
              <a:ext uri="{FF2B5EF4-FFF2-40B4-BE49-F238E27FC236}">
                <a16:creationId xmlns:a16="http://schemas.microsoft.com/office/drawing/2014/main" id="{D1B3BB7E-73E4-C5DA-9170-892B5F0915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836" y="2692400"/>
            <a:ext cx="4368278" cy="291147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C2CE4-D214-DAB8-40C8-4792C6DF5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Structural Improvement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F035B29-C043-989A-7F4E-EB8B379D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89" y="77667"/>
            <a:ext cx="10058400" cy="1450757"/>
          </a:xfrm>
        </p:spPr>
        <p:txBody>
          <a:bodyPr/>
          <a:lstStyle/>
          <a:p>
            <a:r>
              <a:rPr lang="en-US" sz="4000" dirty="0"/>
              <a:t>Phase 2: Forecast &amp; Prevent</a:t>
            </a:r>
            <a:r>
              <a:rPr lang="en-US" sz="6000" dirty="0"/>
              <a:t> </a:t>
            </a:r>
            <a:r>
              <a:rPr lang="en-US" sz="3200" dirty="0"/>
              <a:t>(3–12 Months)</a:t>
            </a:r>
            <a:endParaRPr 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4170E30-4B57-8142-CE19-3ECEB087AA55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515944" y="2692400"/>
            <a:ext cx="4639736" cy="291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12–18 month usage trend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Reorder point calibration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shortage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forecast governance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Vendor performance review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336573-D356-8414-2837-6AF1B8D20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203" y="5020352"/>
            <a:ext cx="3725797" cy="13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6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859AD-F43D-24D7-D12B-60540E86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E5722DB-8E53-CA4B-03CF-38DA5EE2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KPIs &amp; Measured Success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813CAF2-77C6-959D-1214-8FD82005E9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78979"/>
            <a:ext cx="52760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15–25% reduction in emergency procurement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drug acquisition cost variance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CF341-607C-92CE-9D15-B28738A0AD6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097281" y="2010679"/>
            <a:ext cx="1444752" cy="36417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Financial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CB9FD8-B59B-B601-CC0F-EC9334A76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3686984"/>
            <a:ext cx="37581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20–30% reduction in stockout rate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&lt;10% forecast variance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A6A295E-B0D0-0F05-C317-5119A63D8214}"/>
              </a:ext>
            </a:extLst>
          </p:cNvPr>
          <p:cNvSpPr txBox="1">
            <a:spLocks/>
          </p:cNvSpPr>
          <p:nvPr/>
        </p:nvSpPr>
        <p:spPr>
          <a:xfrm>
            <a:off x="1097280" y="3252826"/>
            <a:ext cx="2399380" cy="41778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Operational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0EF744-364F-0AFA-0C4F-F0F4FBCC3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4797475"/>
            <a:ext cx="38374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≥95% vendor fill rate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15% reduction in substitution rate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86102C7-8B31-5310-1328-A7A10A232CFD}"/>
              </a:ext>
            </a:extLst>
          </p:cNvPr>
          <p:cNvSpPr txBox="1">
            <a:spLocks/>
          </p:cNvSpPr>
          <p:nvPr/>
        </p:nvSpPr>
        <p:spPr>
          <a:xfrm>
            <a:off x="1097280" y="4385158"/>
            <a:ext cx="2234788" cy="36830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Risk &amp; Reliability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E3DD9E-006F-1E6D-EF96-E1E874662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137802"/>
              </p:ext>
            </p:extLst>
          </p:nvPr>
        </p:nvGraphicFramePr>
        <p:xfrm>
          <a:off x="5879592" y="2010678"/>
          <a:ext cx="6144768" cy="4313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>
                  <a:extLst>
                    <a:ext uri="{9D8B030D-6E8A-4147-A177-3AD203B41FA5}">
                      <a16:colId xmlns:a16="http://schemas.microsoft.com/office/drawing/2014/main" val="4008017390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1262079274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661821428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940386907"/>
                    </a:ext>
                  </a:extLst>
                </a:gridCol>
              </a:tblGrid>
              <a:tr h="679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Expected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221489"/>
                  </a:ext>
                </a:extLst>
              </a:tr>
              <a:tr h="679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Emergency Procurement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↓ 15–25%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Margin stabilization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4281"/>
                  </a:ext>
                </a:extLst>
              </a:tr>
              <a:tr h="679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Stockout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↓ 20–30%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Operational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900835"/>
                  </a:ext>
                </a:extLst>
              </a:tr>
              <a:tr h="679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Forecast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&lt; 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Planning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519213"/>
                  </a:ext>
                </a:extLst>
              </a:tr>
              <a:tr h="679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Vendor Fill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≥ 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Supply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365322"/>
                  </a:ext>
                </a:extLst>
              </a:tr>
              <a:tr h="679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Substitution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↓ 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Patient safety risk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28261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98154FC-5545-065F-5BF8-C72C7CCC6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43432" cy="1868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BD258F-DEE2-FDD3-FFF9-2361FAED0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68" y="-1"/>
            <a:ext cx="2143432" cy="18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70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2C9A6-55D7-44DB-B277-9EC589647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C9B4C84-A942-1D0E-39D1-61615F67F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Implementation 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F46AD-F5FF-7790-871A-0F27F39F3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0–90 Days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F5653-340A-4F59-FC20-1A67FA5AC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3–12 Months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8528639-50A8-1AAF-22F4-57C8EB74C17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97204" y="3035120"/>
            <a:ext cx="318626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 alerts active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executive performance report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CE28D10-2F57-C608-E8C6-4A3717A89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4986" y="3173620"/>
            <a:ext cx="338111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Forecast variance reduced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Vendor performance stabilized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Stockout trend declining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B7485D-75CB-5D5D-6C8B-E816C8780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43432" cy="1868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0FEEE1-BBDA-18EE-C1FE-C1C1B786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48" y="-698"/>
            <a:ext cx="2271252" cy="18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13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F242-9151-0624-82C1-FEBFE043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6C00EF5B-7CB7-A5E7-CF4F-D807620D30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0932" y="2186569"/>
            <a:ext cx="497748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Enterprise-wide supply visibility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Margin predictability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patient safety exposure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workflow disruption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analytics maturity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AE22578-7DE9-F14A-581B-D066C01D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38109"/>
          </a:xfrm>
        </p:spPr>
        <p:txBody>
          <a:bodyPr/>
          <a:lstStyle/>
          <a:p>
            <a:pPr algn="ctr"/>
            <a:r>
              <a:rPr lang="en-US" dirty="0"/>
              <a:t>Executive Value</a:t>
            </a:r>
          </a:p>
        </p:txBody>
      </p:sp>
      <p:sp>
        <p:nvSpPr>
          <p:cNvPr id="2" name="Title 9">
            <a:extLst>
              <a:ext uri="{FF2B5EF4-FFF2-40B4-BE49-F238E27FC236}">
                <a16:creationId xmlns:a16="http://schemas.microsoft.com/office/drawing/2014/main" id="{27FE91E2-DACF-1F02-0D41-34ED20A428A7}"/>
              </a:ext>
            </a:extLst>
          </p:cNvPr>
          <p:cNvSpPr txBox="1">
            <a:spLocks/>
          </p:cNvSpPr>
          <p:nvPr/>
        </p:nvSpPr>
        <p:spPr>
          <a:xfrm>
            <a:off x="966216" y="941923"/>
            <a:ext cx="10058400" cy="8381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What Leadership Gains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E6D7C5-6D55-F811-77DB-3587833D5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79590" cy="18681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7BE361-83CB-02BB-6A3A-E93E2DF2A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410" y="7858"/>
            <a:ext cx="3379590" cy="18681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194B22-D0B5-B185-F108-153C695FD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594" y="1968312"/>
            <a:ext cx="6744929" cy="4117855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A823BFB9-75F5-1F03-3B5D-4FEA1F9FE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594" y="6151336"/>
            <a:ext cx="497748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000" dirty="0">
                <a:solidFill>
                  <a:schemeClr val="tx1"/>
                </a:solidFill>
                <a:latin typeface="Arial" panose="020B0604020202020204" pitchFamily="34" charset="0"/>
              </a:rPr>
              <a:t>Example Dashboard Created by Geoffrey Threats</a:t>
            </a:r>
          </a:p>
        </p:txBody>
      </p:sp>
    </p:spTree>
    <p:extLst>
      <p:ext uri="{BB962C8B-B14F-4D97-AF65-F5344CB8AC3E}">
        <p14:creationId xmlns:p14="http://schemas.microsoft.com/office/powerpoint/2010/main" val="234819323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{F5DCE497-E827-4159-995D-C826287502DE}TFf0a5ceae-4542-492d-822e-d65a94fb0e1e3b562c5a_win32-009a0557e699</Template>
  <TotalTime>297</TotalTime>
  <Words>1775</Words>
  <Application>Microsoft Office PowerPoint</Application>
  <PresentationFormat>Widescreen</PresentationFormat>
  <Paragraphs>270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Bookman Old Style</vt:lpstr>
      <vt:lpstr>Calibri</vt:lpstr>
      <vt:lpstr>Cambria</vt:lpstr>
      <vt:lpstr>Franklin Gothic Book</vt:lpstr>
      <vt:lpstr>Wingdings</vt:lpstr>
      <vt:lpstr>Custom</vt:lpstr>
      <vt:lpstr>Medication Supply Resilience Program MetroCare Health System</vt:lpstr>
      <vt:lpstr>Risk &amp; Urgency</vt:lpstr>
      <vt:lpstr>Risk Prioritization Framework</vt:lpstr>
      <vt:lpstr>Enterprise Impact</vt:lpstr>
      <vt:lpstr>Root Causes (Controllable)</vt:lpstr>
      <vt:lpstr>Strategy Overview</vt:lpstr>
      <vt:lpstr>Data Governance &amp; Ownership</vt:lpstr>
      <vt:lpstr>Phase 1: Stabilize (0–90 Days)</vt:lpstr>
      <vt:lpstr>Phase 2: Forecast &amp; Prevent (3–12 Months)</vt:lpstr>
      <vt:lpstr>KPIs &amp; Measured Success</vt:lpstr>
      <vt:lpstr>Implementation Roadmap</vt:lpstr>
      <vt:lpstr>Executive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Geoffrey Threats</dc:creator>
  <cp:lastModifiedBy>Geoffrey Threats</cp:lastModifiedBy>
  <cp:revision>8</cp:revision>
  <dcterms:created xsi:type="dcterms:W3CDTF">2026-03-02T04:41:37Z</dcterms:created>
  <dcterms:modified xsi:type="dcterms:W3CDTF">2026-03-02T22:42:09Z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